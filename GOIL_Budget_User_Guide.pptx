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5003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-1371600"/>
            <a:ext cx="5029200" cy="5029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0" y="2011680"/>
            <a:ext cx="3200400" cy="3200400"/>
          </a:xfrm>
          <a:prstGeom prst="ellipse">
            <a:avLst/>
          </a:prstGeom>
          <a:solidFill>
            <a:srgbClr val="162D4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5029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GOIL</a:t>
            </a:r>
            <a:endParaRPr lang="en-US" sz="80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7830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Management System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23591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  ·  September 2026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Oil Company Limited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4736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BMS v1.0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the Budget Management System?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for budget entry, approval, actuals tracking, and reporting across all GOIL departments.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572768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7" name="Shape 5"/>
          <p:cNvSpPr/>
          <p:nvPr/>
        </p:nvSpPr>
        <p:spPr>
          <a:xfrm>
            <a:off x="530352" y="1426464"/>
            <a:ext cx="548640" cy="548640"/>
          </a:xfrm>
          <a:prstGeom prst="ellipse">
            <a:avLst/>
          </a:prstGeom>
          <a:solidFill>
            <a:srgbClr val="FEE2E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0352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Entry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staff enter annual budgets by account code — quarterly or monthly — with automatic calculations.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54864" cy="157276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3" name="Shape 11"/>
          <p:cNvSpPr/>
          <p:nvPr/>
        </p:nvSpPr>
        <p:spPr>
          <a:xfrm>
            <a:off x="4919472" y="1426464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19472" y="14447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12801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Workflow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577840" y="160020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flow through configurable approval stages: Dept Head → Finance → CEO → Board.</a:t>
            </a:r>
          </a:p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en-US" sz="1100" i="1" dirty="0">
                <a:solidFill>
                  <a:srgbClr val="FF0000"/>
                </a:solidFill>
                <a:latin typeface="Calibri" pitchFamily="34" charset="0"/>
                <a:cs typeface="Calibri" pitchFamily="34" charset="-120"/>
              </a:rPr>
              <a:t>Or as set in the system</a:t>
            </a:r>
            <a:r>
              <a:rPr lang="en-US" sz="1100" dirty="0">
                <a:solidFill>
                  <a:srgbClr val="5A6A7A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880360"/>
            <a:ext cx="54864" cy="157276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Shape 17"/>
          <p:cNvSpPr/>
          <p:nvPr/>
        </p:nvSpPr>
        <p:spPr>
          <a:xfrm>
            <a:off x="530352" y="3209544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30352" y="3227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Actuals Recording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Staff records monthly actual spend against approved budgets with built-in over-budget controls. It passes through the approval stages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54880" y="2880360"/>
            <a:ext cx="4114800" cy="157276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880360"/>
            <a:ext cx="54864" cy="15727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Shape 23"/>
          <p:cNvSpPr/>
          <p:nvPr/>
        </p:nvSpPr>
        <p:spPr>
          <a:xfrm>
            <a:off x="4919472" y="3209544"/>
            <a:ext cx="548640" cy="548640"/>
          </a:xfrm>
          <a:prstGeom prst="ellipse">
            <a:avLst/>
          </a:prstGeom>
          <a:solidFill>
            <a:srgbClr val="CCFBF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919472" y="322783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577840" y="30632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557784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utilisation, P&amp;L, Year-on-Year and executive reports available instantly.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Roles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is assigned a role that determines what they can see and do in the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508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97280"/>
            <a:ext cx="1508760" cy="77724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65760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508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Staff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2011680"/>
            <a:ext cx="1325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&amp; save budget line items, record actuals, view own reports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29968" y="1097280"/>
            <a:ext cx="1508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29968" y="1097280"/>
            <a:ext cx="1508760" cy="77724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075688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121408" y="1508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Dept. Head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121408" y="2011680"/>
            <a:ext cx="1325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approve department budgets, view department reports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39896" y="1097280"/>
            <a:ext cx="1508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39896" y="1097280"/>
            <a:ext cx="150876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785616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831336" y="1508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831336" y="2011680"/>
            <a:ext cx="1325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all budgets, confirm actuals, access all financial reports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9824" y="1097280"/>
            <a:ext cx="1508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9824" y="1097280"/>
            <a:ext cx="1508760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95544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5541264" y="1508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/ Board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541264" y="2011680"/>
            <a:ext cx="1325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authority, executive summary dashboards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59752" y="1097280"/>
            <a:ext cx="150876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159752" y="1097280"/>
            <a:ext cx="1508760" cy="777240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205472" y="1133856"/>
            <a:ext cx="141732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55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7251192" y="15087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BDU Admin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251192" y="2011680"/>
            <a:ext cx="1325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budget periods, account codes, settings, users and reports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Budget Lifecycle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period opening to approved reports — every step in one view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444752" y="1645920"/>
            <a:ext cx="320040" cy="54864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6" name="Shape 4"/>
          <p:cNvSpPr/>
          <p:nvPr/>
        </p:nvSpPr>
        <p:spPr>
          <a:xfrm>
            <a:off x="1719072" y="1581912"/>
            <a:ext cx="73152" cy="18288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1325880"/>
            <a:ext cx="731520" cy="7315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27432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Period Opens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 budget period; departments are notified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62072" y="1645920"/>
            <a:ext cx="320040" cy="54864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12" name="Shape 10"/>
          <p:cNvSpPr/>
          <p:nvPr/>
        </p:nvSpPr>
        <p:spPr>
          <a:xfrm>
            <a:off x="3136392" y="1581912"/>
            <a:ext cx="73152" cy="18288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13" name="Shape 11"/>
          <p:cNvSpPr/>
          <p:nvPr/>
        </p:nvSpPr>
        <p:spPr>
          <a:xfrm>
            <a:off x="1764792" y="1325880"/>
            <a:ext cx="731520" cy="73152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76479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1444752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Entry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444752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staff enter line items by account code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79392" y="1645920"/>
            <a:ext cx="320040" cy="54864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18" name="Shape 16"/>
          <p:cNvSpPr/>
          <p:nvPr/>
        </p:nvSpPr>
        <p:spPr>
          <a:xfrm>
            <a:off x="4553712" y="1581912"/>
            <a:ext cx="73152" cy="18288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2112" y="1325880"/>
            <a:ext cx="731520" cy="7315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18211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862072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862072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Head reviews and submits for approval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96712" y="1645920"/>
            <a:ext cx="320040" cy="54864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24" name="Shape 22"/>
          <p:cNvSpPr/>
          <p:nvPr/>
        </p:nvSpPr>
        <p:spPr>
          <a:xfrm>
            <a:off x="5971032" y="1581912"/>
            <a:ext cx="73152" cy="18288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25" name="Shape 23"/>
          <p:cNvSpPr/>
          <p:nvPr/>
        </p:nvSpPr>
        <p:spPr>
          <a:xfrm>
            <a:off x="4599432" y="132588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9943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4279392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Stages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4279392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→ CEO → Board approve sequentially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14032" y="1645920"/>
            <a:ext cx="320040" cy="54864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30" name="Shape 28"/>
          <p:cNvSpPr/>
          <p:nvPr/>
        </p:nvSpPr>
        <p:spPr>
          <a:xfrm>
            <a:off x="7388352" y="1581912"/>
            <a:ext cx="73152" cy="18288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31" name="Shape 29"/>
          <p:cNvSpPr/>
          <p:nvPr/>
        </p:nvSpPr>
        <p:spPr>
          <a:xfrm>
            <a:off x="6016752" y="1325880"/>
            <a:ext cx="731520" cy="73152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1675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5696712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Actuals Entry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696712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user records monthly actual spend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434072" y="1325880"/>
            <a:ext cx="731520" cy="731520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434072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7114032" y="219456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7114032" y="251460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Variance, utilisation and executive reports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· Budget Entry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staff enter the annual budget for each account code in their department.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088136"/>
            <a:ext cx="329184" cy="329184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4048" y="10881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0515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My Budget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307592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main menu, click My Budget to see your department's budget versions.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837944"/>
            <a:ext cx="329184" cy="329184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801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Budget Period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05740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open budget period from the dropdown at the top of the page.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587752"/>
            <a:ext cx="329184" cy="329184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048" y="2587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5511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Line Items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28072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account code, enter Quantity, Rate, and Frequency (if applicable). Totals calculate automatically.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337560"/>
            <a:ext cx="329184" cy="329184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4048" y="33375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33009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Justification Notes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5701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Notes field to explain significant budget requests.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" y="4087368"/>
            <a:ext cx="329184" cy="329184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84048" y="4087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050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306824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are saved automatically every 3 seconds. The save status appears at the top.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051560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51560"/>
            <a:ext cx="4069080" cy="4572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92040" y="107899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 Modes – All set by Admin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92040" y="1755648"/>
            <a:ext cx="201168" cy="201168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212080" y="166420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Rate × Frequency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212080" y="19202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quantity, unit rate, and how often (e.g., 5 vehicles × GHS 1,200 × 12 months)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560320"/>
            <a:ext cx="201168" cy="20116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212080" y="246888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Qty × Rate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212080" y="27249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quantity and unit cost (e.g., 1 item × GHS 50,000)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364992"/>
            <a:ext cx="201168" cy="201168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212080" y="3273552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Amount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212080" y="352958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amount directly, split by quarter or month as needed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4169664"/>
            <a:ext cx="201168" cy="20116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212080" y="407822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Period Split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5212080" y="43342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enabled, manually allocate the total across quarters or months for precise control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Period Split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enabled by the administrator, you allocate the computed total across quarters or months yourself.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490472"/>
            <a:ext cx="182880" cy="18288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04088" y="141732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computes the line item total (Qty × Rate × Freq).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965960"/>
            <a:ext cx="182880" cy="18288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04088" y="1892808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manually enter how much falls in each quarter (or month).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441448"/>
            <a:ext cx="182880" cy="18288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04088" y="2368296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Year Total column shows a live balance indicator.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2916936"/>
            <a:ext cx="182880" cy="18288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04088" y="2843784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fields turn GREEN when the split equals the total.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3392424"/>
            <a:ext cx="182880" cy="18288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04088" y="3319272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(↓ left) or Red (↑ over) warnings appear if unbalanced.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867912"/>
            <a:ext cx="182880" cy="18288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" y="379476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submit for approval until all splits are balanced.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25196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051560"/>
            <a:ext cx="4251960" cy="402336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107899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Balance Indicator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63440" y="1453896"/>
            <a:ext cx="4251960" cy="292608"/>
          </a:xfrm>
          <a:prstGeom prst="rect">
            <a:avLst/>
          </a:prstGeom>
          <a:solidFill>
            <a:srgbClr val="E8EDF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1472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596128" y="1472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37376" y="1472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7278624" y="147218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119872" y="1472184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Total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746504"/>
            <a:ext cx="4251960" cy="54864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1792224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54880" y="179222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2,500.00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96128" y="1792224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596128" y="179222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2,500.00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37376" y="1792224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37376" y="179222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2,500.00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78624" y="1792224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278624" y="179222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2,500.00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119872" y="1773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10,000.00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7936992" y="1956816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Balanced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2423160"/>
            <a:ext cx="4251960" cy="548640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9" name="Shape 37"/>
          <p:cNvSpPr/>
          <p:nvPr/>
        </p:nvSpPr>
        <p:spPr>
          <a:xfrm>
            <a:off x="4754880" y="2468880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754880" y="24688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3,000.00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596128" y="2468880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96128" y="24688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2,000.00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37376" y="2468880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437376" y="24688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2,000.00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278624" y="2468880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78624" y="246888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1,500.00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8119872" y="24505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12,000.00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845552" y="2633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1,500.00 left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663440" y="3099816"/>
            <a:ext cx="4251960" cy="548640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50" name="Shape 48"/>
          <p:cNvSpPr/>
          <p:nvPr/>
        </p:nvSpPr>
        <p:spPr>
          <a:xfrm>
            <a:off x="4754880" y="3145536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754880" y="31455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4,000.00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596128" y="3145536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596128" y="31455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3,500.00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437376" y="3145536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37376" y="31455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3,000.00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78624" y="3145536"/>
            <a:ext cx="749808" cy="292608"/>
          </a:xfrm>
          <a:prstGeom prst="rect">
            <a:avLst/>
          </a:prstGeom>
          <a:solidFill>
            <a:srgbClr val="FFFFFF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278624" y="314553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2,500.00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119872" y="312724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8,000.00</a:t>
            </a:r>
            <a:endParaRPr lang="en-US" sz="1000" dirty="0"/>
          </a:p>
        </p:txBody>
      </p:sp>
      <p:sp>
        <p:nvSpPr>
          <p:cNvPr id="59" name="Text 57"/>
          <p:cNvSpPr txBox="1"/>
          <p:nvPr/>
        </p:nvSpPr>
        <p:spPr>
          <a:xfrm>
            <a:off x="7818120" y="331012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5,000.00 over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4709160" y="37947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09160" y="4005072"/>
            <a:ext cx="146304" cy="14630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919472" y="39593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— ready to submit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09160" y="426110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4919472" y="42153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Under-allocated — more to distribute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709160" y="4517136"/>
            <a:ext cx="146304" cy="146304"/>
          </a:xfrm>
          <a:prstGeom prst="ellipse">
            <a:avLst/>
          </a:prstGeom>
          <a:solidFill>
            <a:srgbClr val="F43F5E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919472" y="447141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Over-allocated — reduce one or more quarters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· Submitting for Approval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all line items are entered and balanced, the Dept. User submits the budget for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508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508760" cy="54864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8470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01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393192" y="2066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Entries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2468880"/>
            <a:ext cx="1325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 line items and totals. Ensure Notes are added for unusual amounts.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39112" y="1188720"/>
            <a:ext cx="1508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039112" y="1188720"/>
            <a:ext cx="15087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039112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2130552" y="18470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112264" y="2066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&amp; Verify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130552" y="2468880"/>
            <a:ext cx="1325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or wait for auto-save. Status shows 'Saved at HH:MM'.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58184" y="1188720"/>
            <a:ext cx="1508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1188720"/>
            <a:ext cx="1508760" cy="54864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758184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849624" y="18470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831336" y="2066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3849624" y="2468880"/>
            <a:ext cx="1325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'Submit for Approval'. The system validates all splits are balanced before proceeding.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77256" y="1188720"/>
            <a:ext cx="1508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77256" y="1188720"/>
            <a:ext cx="15087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77256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5568696" y="18470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5550408" y="2066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Notes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568696" y="2468880"/>
            <a:ext cx="1325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optional submission notes explaining the budget overall. Click Confirm Submit.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196328" y="1188720"/>
            <a:ext cx="150876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96328" y="118872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196328" y="1325880"/>
            <a:ext cx="1508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287768" y="1847088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269480" y="20665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Notified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287768" y="2468880"/>
            <a:ext cx="1325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first-stage approver receives an email and in-app notification instantly.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57200" y="4590288"/>
            <a:ext cx="822960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If the budget has been rejected, you can re-open it from My Budget, make changes, and resubmit.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· Approval Workflow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pass through sequential approval stages. Each stage can approve or reject with comments.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344168"/>
            <a:ext cx="530352" cy="53035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4048" y="13441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" y="1874520"/>
            <a:ext cx="54864" cy="50292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78992" y="1307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 Head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6184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department budget totals and line-by-line justifications.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371600"/>
            <a:ext cx="1280160" cy="256032"/>
          </a:xfrm>
          <a:prstGeom prst="rect">
            <a:avLst/>
          </a:prstGeom>
          <a:solidFill>
            <a:srgbClr val="0D6E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480560" y="1371600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1371600"/>
            <a:ext cx="1280160" cy="256032"/>
          </a:xfrm>
          <a:prstGeom prst="rect">
            <a:avLst/>
          </a:prstGeom>
          <a:solidFill>
            <a:srgbClr val="9B1C2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97880" y="1371600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16916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forwards to next stage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" y="2231136"/>
            <a:ext cx="530352" cy="53035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84048" y="22311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" y="2761488"/>
            <a:ext cx="54864" cy="50292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78992" y="2194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Reviewer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78992" y="25054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against company financial policy, account codes, and period budget ceiling.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80560" y="2258568"/>
            <a:ext cx="1280160" cy="256032"/>
          </a:xfrm>
          <a:prstGeom prst="rect">
            <a:avLst/>
          </a:prstGeom>
          <a:solidFill>
            <a:srgbClr val="0D6E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897880" y="2258568"/>
            <a:ext cx="1280160" cy="256032"/>
          </a:xfrm>
          <a:prstGeom prst="rect">
            <a:avLst/>
          </a:prstGeom>
          <a:solidFill>
            <a:srgbClr val="9B1C2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897880" y="2258568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4048" y="3118104"/>
            <a:ext cx="530352" cy="530352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84048" y="3118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12648" y="3648456"/>
            <a:ext cx="54864" cy="502920"/>
          </a:xfrm>
          <a:prstGeom prst="rect">
            <a:avLst/>
          </a:prstGeom>
          <a:solidFill>
            <a:srgbClr val="3D557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78992" y="30815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/ GCEO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78992" y="339242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 — approves overall allocation across departments.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480560" y="3145536"/>
            <a:ext cx="1280160" cy="256032"/>
          </a:xfrm>
          <a:prstGeom prst="rect">
            <a:avLst/>
          </a:prstGeom>
          <a:solidFill>
            <a:srgbClr val="0D6E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80560" y="3145536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897880" y="3145536"/>
            <a:ext cx="1280160" cy="256032"/>
          </a:xfrm>
          <a:prstGeom prst="rect">
            <a:avLst/>
          </a:prstGeom>
          <a:solidFill>
            <a:srgbClr val="9B1C2E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897880" y="3145536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" y="4005072"/>
            <a:ext cx="530352" cy="530352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384048" y="40050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78992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078992" y="42793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board-level approval. Budget is locked once approved at this stage.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480560" y="4032504"/>
            <a:ext cx="1280160" cy="256032"/>
          </a:xfrm>
          <a:prstGeom prst="rect">
            <a:avLst/>
          </a:prstGeom>
          <a:solidFill>
            <a:srgbClr val="0D6E4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480560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Approve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97880" y="4032504"/>
            <a:ext cx="1280160" cy="256032"/>
          </a:xfrm>
          <a:prstGeom prst="rect">
            <a:avLst/>
          </a:prstGeom>
          <a:solidFill>
            <a:srgbClr val="9B1C2E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897880" y="4032504"/>
            <a:ext cx="12801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Reject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4480560" y="43525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Budget APPROVED and locked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406640" y="1234440"/>
            <a:ext cx="1463040" cy="3703320"/>
          </a:xfrm>
          <a:prstGeom prst="rect">
            <a:avLst/>
          </a:prstGeom>
          <a:solidFill>
            <a:srgbClr val="162D45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7498080" y="1371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Rejection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0" y="1691640"/>
            <a:ext cx="1280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Dept. receives email notification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Rejection reason is visible on the budget page</a:t>
            </a:r>
            <a:endParaRPr lang="en-US" sz="1000" dirty="0"/>
          </a:p>
          <a:p>
            <a:pPr marL="0" indent="0" algn="l">
              <a:buNone/>
            </a:pP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Dept. Head re-opens, edits, and resubmits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· Recording Actual Expenditure (as at now)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User records what was actually spent each month. Actuals are compared to the approved budget.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4048" y="1106424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84048" y="1106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10515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Actuals Entry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132588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navigates to Actuals Entry and selects the department, period, and month.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2011680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84048" y="2011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19568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231136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actual amount spent against each budget line item for that month.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16936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84048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8620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as Draft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13639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Amounts are saved as drafts first — visible only to the entering user. A different user must confirm them.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84048" y="3822192"/>
            <a:ext cx="347472" cy="34747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4048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76732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041648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finance user reviews and confirms the drafts. Confirmed actuals are locked and visible in reports.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051560"/>
            <a:ext cx="420624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51560"/>
            <a:ext cx="4206240" cy="438912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10789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Over-Budget Controls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00600" y="1627632"/>
            <a:ext cx="3913632" cy="12344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919472" y="17190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Mode (Default)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919472" y="201168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checks that year-to-date actuals do not exceed the annual budget. A single month can go over its monthly share, as long as the annual total stays within budget.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00600" y="3044952"/>
            <a:ext cx="3913632" cy="123444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919472" y="31363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1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Mode (Strict)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19472" y="3429000"/>
            <a:ext cx="3657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month is capped at its own allocated amount. Going over in January is blocked regardless of remaining annual budget.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4800600" y="4590288"/>
            <a:ext cx="41148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Revenue lines are never blocked for over-budget — only expense lines are checked.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Analytics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suite of reports is available from the Reports menu. Export any report to Excel with one click.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1965960" cy="54864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161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Report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11480" y="19476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— highlights over and under-spend by account code and department.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05156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051560"/>
            <a:ext cx="19659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468880" y="1161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 Report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9476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each department's approved budget has been spent — with line-by-line detail.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05156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051560"/>
            <a:ext cx="1965960" cy="54864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17720" y="1161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70916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P&amp;L Report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709160" y="19476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layout showing revenue and expenses in standard format.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05156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05156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66560" y="116128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161848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Year-on-Year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194767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current year budget and actuals against previous year's figures.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97180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2971800"/>
            <a:ext cx="19659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0040" y="3081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411480" y="3538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Flexed Budget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11480" y="386791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Adjusts budget proportionally to actual activity levels — for fair performance assessment.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297180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971800"/>
            <a:ext cx="19659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468880" y="3081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2560320" y="3538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560320" y="386791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one-page overview for senior management — KPIs, charts, top variances.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17720" y="297180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17720" y="2971800"/>
            <a:ext cx="196596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617720" y="3081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4709160" y="3538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Virement Report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4709160" y="386791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all mid-year budget transfers between account codes.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2971800"/>
            <a:ext cx="1965960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766560" y="2971800"/>
            <a:ext cx="196596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766560" y="308152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0" y="3538728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CAPEX Report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858000" y="3867912"/>
            <a:ext cx="17830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expenditure budget vs. actuals, separate from operating expenses.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Utilisation Report — Deep Dive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how much of the approved budget each department has spent, right down to individual line items.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411480" y="10058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Department-Level View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1399032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67512" y="1362456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status: Green &lt; 70%, Amber 70–90%, Red &gt; 90%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" y="1837944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7512" y="1801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Actual Spent, and Remaining shown as metric tiles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" y="2276856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7512" y="2240280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bar showing utilisation at a glance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" y="2715768"/>
            <a:ext cx="164592" cy="164592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67512" y="2679192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Collapsible button to expand line-item detail below each department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411480" y="32461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Line-Item Detail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11480" y="363016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59359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code, name, category, actual spend, budget, and utilisation 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11480" y="404164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" y="400507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item tinted by its own utilisation status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4453128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67512" y="4416552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total footer row in the expandable table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100584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0584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800600" y="1078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Dept.   52% used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389888"/>
            <a:ext cx="3913632" cy="146304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Shape 23"/>
          <p:cNvSpPr/>
          <p:nvPr/>
        </p:nvSpPr>
        <p:spPr>
          <a:xfrm>
            <a:off x="4800600" y="1389888"/>
            <a:ext cx="2035089" cy="1463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286000"/>
            <a:ext cx="54864" cy="11704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00600" y="2359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Dept.   78% used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2670048"/>
            <a:ext cx="3913632" cy="146304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670048"/>
            <a:ext cx="3052633" cy="14630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Shape 28"/>
          <p:cNvSpPr/>
          <p:nvPr/>
        </p:nvSpPr>
        <p:spPr>
          <a:xfrm>
            <a:off x="4663440" y="3547872"/>
            <a:ext cx="54864" cy="1188720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00600" y="36210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 &amp; Admin Dept.   94% used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931920"/>
            <a:ext cx="3913632" cy="146304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33" name="Shape 31"/>
          <p:cNvSpPr/>
          <p:nvPr/>
        </p:nvSpPr>
        <p:spPr>
          <a:xfrm>
            <a:off x="4800600" y="3931920"/>
            <a:ext cx="3678814" cy="146304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0600" y="4663440"/>
            <a:ext cx="146304" cy="14630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992624" y="4626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(&lt; 70%)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172200" y="4663440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364224" y="4626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(70–90%)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543800" y="4663440"/>
            <a:ext cx="146304" cy="146304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735824" y="4626864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(&gt; 90%)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Virements &amp; Supplementary Budgets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Mid-year budget adjustments to respond to changing business needs.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4069080" cy="475488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10881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🔄  Virement (Budget Transfer)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6916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transfer of approved budget from one account code to another within the same department or period.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use?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24231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line item needs more funds but another has unused allocation — move the balance instead of requesting new funds.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1546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Virement request specifying From Account, To Account, and Amount. It goes through the approval workflow.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3886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886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virements appear in the Virement Report with status tracking.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1051560"/>
            <a:ext cx="4069080" cy="3611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CBD5E1">
                <a:alpha val="4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051560"/>
            <a:ext cx="4069080" cy="47548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46320" y="108813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➕  Supplementary Budget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16916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it?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169164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budget allocation beyond the original approved amount — an injection of new funds.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24231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use?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42316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business requirements genuinely exceed the originally approved budget and a transfer is not possible.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How?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315468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Supplementary Budget request with justification. It follows the same approval stages as the original budget.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4846320" y="38862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3886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Supplementary amounts are shown separately in all reports alongside the original approved budget.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Administration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BDU Admin and Super Admin users manage the system configuration through the Admin menu.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1051560"/>
            <a:ext cx="2651760" cy="54864"/>
          </a:xfrm>
          <a:prstGeom prst="rect">
            <a:avLst/>
          </a:prstGeom>
          <a:solidFill>
            <a:srgbClr val="1D3557"/>
          </a:solidFill>
          <a:ln/>
        </p:spPr>
      </p:sp>
      <p:sp>
        <p:nvSpPr>
          <p:cNvPr id="7" name="Shape 5"/>
          <p:cNvSpPr/>
          <p:nvPr/>
        </p:nvSpPr>
        <p:spPr>
          <a:xfrm>
            <a:off x="484632" y="1252728"/>
            <a:ext cx="475488" cy="475488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84632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234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Periods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" y="181965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and close budget periods. Set submission deadlines and department-level extensions.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0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051560"/>
            <a:ext cx="26517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252728"/>
            <a:ext cx="475488" cy="475488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337560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1234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 &amp; Roles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81965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user accounts and assign roles (Dept Staff, Dept Head, Finance, CEO, Board, Admin).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53328" y="1051560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53328" y="10515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0488" y="1252728"/>
            <a:ext cx="475488" cy="47548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90488" y="12527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784848" y="123444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Departments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190488" y="1819656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departments and assign account codes to each department. Export code lists as CSV.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2862072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7472" y="2862072"/>
            <a:ext cx="265176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" y="306324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4632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78992" y="3044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 Codes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84632" y="363016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Add, edit, and categorise account codes. Set budget types (Revenue / Expense / CAPEX).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0" y="2862072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862072"/>
            <a:ext cx="2651760" cy="54864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31" name="Shape 29"/>
          <p:cNvSpPr/>
          <p:nvPr/>
        </p:nvSpPr>
        <p:spPr>
          <a:xfrm>
            <a:off x="3337560" y="3063240"/>
            <a:ext cx="475488" cy="475488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3337560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3931920" y="3044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Settings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3337560" y="363016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entry modes, approval routing, email/SMTP settings, audit log retention, and more.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053328" y="2862072"/>
            <a:ext cx="265176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53328" y="2862072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190488" y="3063240"/>
            <a:ext cx="475488" cy="47548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190488" y="3063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784848" y="3044952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Log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6190488" y="3630168"/>
            <a:ext cx="23774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of all actions in the system — who did what and when. Configurable retention period.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Best Practices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to get the most out of the system and avoid common issues.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515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307592"/>
            <a:ext cx="548640" cy="5486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170432" y="117957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Notes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1490472"/>
            <a:ext cx="3218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add justification notes for large or unusual budget items. Approvers rely on these.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51560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92040" y="1307592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9204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577840" y="117957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wait to submit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1490472"/>
            <a:ext cx="3218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early — approvals can take several days across multiple stages.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7472" y="235000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" y="26060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8463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170432" y="247802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balance first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70432" y="2788920"/>
            <a:ext cx="3218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using Manual Split mode, verify all splits are green before clicking Submit.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350008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92040" y="2606040"/>
            <a:ext cx="548640" cy="54864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9204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577840" y="2478024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reports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577840" y="2788920"/>
            <a:ext cx="3218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Excel export on every report for offline analysis and management presentations.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364845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" y="3904488"/>
            <a:ext cx="548640" cy="548640"/>
          </a:xfrm>
          <a:prstGeom prst="ellipse">
            <a:avLst/>
          </a:prstGeom>
          <a:solidFill>
            <a:srgbClr val="1D355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84632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1170432" y="37764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before confirm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70432" y="4087368"/>
            <a:ext cx="3218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person must confirm actuals — use this step to catch data entry errors.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648456"/>
            <a:ext cx="42062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CBD5E1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92040" y="390448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4892040" y="39044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D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5577840" y="3776472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D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notifications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5577840" y="4087368"/>
            <a:ext cx="32186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sends email and in-app notifications for every action requiring your attention.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4" name="Shape 2"/>
          <p:cNvSpPr/>
          <p:nvPr/>
        </p:nvSpPr>
        <p:spPr>
          <a:xfrm>
            <a:off x="201168" y="0"/>
            <a:ext cx="7315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Shape 3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A2F42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0" y="2560320"/>
            <a:ext cx="2926080" cy="2926080"/>
          </a:xfrm>
          <a:prstGeom prst="ellipse">
            <a:avLst/>
          </a:prstGeom>
          <a:solidFill>
            <a:srgbClr val="1525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get started?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3533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at your organisation's system URL and begin entering your department's budget.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148840"/>
            <a:ext cx="960120" cy="960120"/>
          </a:xfrm>
          <a:prstGeom prst="ellipse">
            <a:avLst/>
          </a:prstGeom>
          <a:solidFill>
            <a:srgbClr val="C0152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1488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" y="3227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2148840"/>
            <a:ext cx="960120" cy="960120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606040" y="21488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3227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17720" y="2148840"/>
            <a:ext cx="960120" cy="96012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17720" y="21488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3s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227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Auto-Save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2148840"/>
            <a:ext cx="960120" cy="9601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214884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2×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69748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227832"/>
            <a:ext cx="1143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8907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8FA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support and training, contact Emmanuel Nyarko, CEO, Retentive IT Solutions - 0546553136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C0152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9436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Ghana Oil Company Limited  ·  Budget Management System  · 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1926</Words>
  <Application>Microsoft Office PowerPoint</Application>
  <PresentationFormat>On-screen Show (16:9)</PresentationFormat>
  <Paragraphs>336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EMMANUEL NYARKO</cp:lastModifiedBy>
  <cp:revision>2</cp:revision>
  <dcterms:created xsi:type="dcterms:W3CDTF">2026-09-24T10:32:21Z</dcterms:created>
  <dcterms:modified xsi:type="dcterms:W3CDTF">2026-09-24T11:02:41Z</dcterms:modified>
</cp:coreProperties>
</file>